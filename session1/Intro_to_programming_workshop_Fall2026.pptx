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handoutMasterIdLst>
    <p:handoutMasterId r:id="rId24"/>
  </p:handoutMasterIdLst>
  <p:sldIdLst>
    <p:sldId id="256" r:id="rId3"/>
    <p:sldId id="261" r:id="rId4"/>
    <p:sldId id="387" r:id="rId5"/>
    <p:sldId id="388" r:id="rId6"/>
    <p:sldId id="389" r:id="rId7"/>
    <p:sldId id="260" r:id="rId8"/>
    <p:sldId id="373" r:id="rId9"/>
    <p:sldId id="374" r:id="rId10"/>
    <p:sldId id="366" r:id="rId11"/>
    <p:sldId id="376" r:id="rId12"/>
    <p:sldId id="378" r:id="rId13"/>
    <p:sldId id="379" r:id="rId14"/>
    <p:sldId id="380" r:id="rId15"/>
    <p:sldId id="381" r:id="rId16"/>
    <p:sldId id="386" r:id="rId17"/>
    <p:sldId id="375" r:id="rId18"/>
    <p:sldId id="370" r:id="rId19"/>
    <p:sldId id="372" r:id="rId20"/>
    <p:sldId id="390" r:id="rId21"/>
    <p:sldId id="391" r:id="rId22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74C"/>
    <a:srgbClr val="0025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 snapToGrid="0" snapToObjects="1">
      <p:cViewPr>
        <p:scale>
          <a:sx n="95" d="100"/>
          <a:sy n="95" d="100"/>
        </p:scale>
        <p:origin x="144" y="600"/>
      </p:cViewPr>
      <p:guideLst>
        <p:guide orient="horz" pos="2159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1C5A2-F67A-D94C-BD6F-9C0774830DD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C26CB-3F41-8A4B-B7D4-7BC69C7A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23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4D63-958A-3440-8570-339F094B764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506F9-4373-C24C-B988-2680A85B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06F9-4373-C24C-B988-2680A85B39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6744-7F2E-12AA-6889-4F51E150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036AF-A000-C1BA-253D-59A1024C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AC87C-7D53-8131-CAD7-ABE857CE8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DB032-C015-124B-D7FF-948A0DBBC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06F9-4373-C24C-B988-2680A85B39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4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501C-A35A-8393-026A-854E8F07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6C5ED-9D91-8922-6485-612B83190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C8BE1-FCF8-13EC-6BDA-3E774998C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E730-EACD-59DD-787D-A2B4AC289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06F9-4373-C24C-B988-2680A85B39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82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F833-42A8-9260-9C30-E27F2BEA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E2BDA-0F19-54BF-F345-32ACCDF30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E73BF-F843-DA5D-CAC1-F71C32DE3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78660-FB36-C8E5-F2A1-71009635E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06F9-4373-C24C-B988-2680A85B39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9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022350" y="243379"/>
            <a:ext cx="9711459" cy="567443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1022350" y="1248616"/>
            <a:ext cx="9711458" cy="3101793"/>
          </a:xfrm>
          <a:prstGeom prst="rect">
            <a:avLst/>
          </a:prstGeom>
        </p:spPr>
        <p:txBody>
          <a:bodyPr vert="horz"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53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43840"/>
            <a:ext cx="10741152" cy="715716"/>
          </a:xfrm>
          <a:noFill/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056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sider-environment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334" y="6450014"/>
            <a:ext cx="5249333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 descr="color_horiz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4900"/>
            <a:ext cx="121920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CAA920-1F3F-4B42-9E53-97F1F6BBEEB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743947" y="6341617"/>
            <a:ext cx="3124206" cy="3596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001DFE-F6E4-3228-45E9-9A67AA0F326E}"/>
              </a:ext>
            </a:extLst>
          </p:cNvPr>
          <p:cNvSpPr txBox="1"/>
          <p:nvPr userDrawn="1"/>
        </p:nvSpPr>
        <p:spPr>
          <a:xfrm>
            <a:off x="172527" y="6341617"/>
            <a:ext cx="539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BM Plex Serif Medium" panose="020F0502020204030204" pitchFamily="18" charset="0"/>
              </a:rPr>
              <a:t>Rogel and </a:t>
            </a:r>
            <a:r>
              <a:rPr lang="en-US" sz="1600" dirty="0" err="1">
                <a:solidFill>
                  <a:schemeClr val="bg1"/>
                </a:solidFill>
                <a:latin typeface="IBM Plex Serif Medium" panose="020F0502020204030204" pitchFamily="18" charset="0"/>
              </a:rPr>
              <a:t>Blondy</a:t>
            </a:r>
            <a:r>
              <a:rPr lang="en-US" sz="1600" dirty="0">
                <a:solidFill>
                  <a:schemeClr val="bg1"/>
                </a:solidFill>
                <a:latin typeface="IBM Plex Serif Medium" panose="020F0502020204030204" pitchFamily="18" charset="0"/>
              </a:rPr>
              <a:t> Center for Pancreatic Cancer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5F9BE51-62FD-464A-8D25-547E7AA73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143" y="478029"/>
            <a:ext cx="3385713" cy="18780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763185-959D-7FF0-39A5-3F6DD83A45BB}"/>
              </a:ext>
            </a:extLst>
          </p:cNvPr>
          <p:cNvSpPr txBox="1"/>
          <p:nvPr/>
        </p:nvSpPr>
        <p:spPr>
          <a:xfrm>
            <a:off x="3700271" y="2496312"/>
            <a:ext cx="4791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74C"/>
                </a:solidFill>
                <a:latin typeface="IBM Plex Serif Medium" panose="02060603050406000203" pitchFamily="18" charset="0"/>
              </a:rPr>
              <a:t>Rogel and </a:t>
            </a:r>
            <a:r>
              <a:rPr lang="en-US" sz="1600" dirty="0" err="1">
                <a:solidFill>
                  <a:srgbClr val="00274C"/>
                </a:solidFill>
                <a:latin typeface="IBM Plex Serif Medium" panose="02060603050406000203" pitchFamily="18" charset="0"/>
              </a:rPr>
              <a:t>Blondy</a:t>
            </a:r>
            <a:r>
              <a:rPr lang="en-US" sz="1600" dirty="0">
                <a:solidFill>
                  <a:srgbClr val="00274C"/>
                </a:solidFill>
                <a:latin typeface="IBM Plex Serif Medium" panose="02060603050406000203" pitchFamily="18" charset="0"/>
              </a:rPr>
              <a:t> Center for Pancreatic Cancer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0CE83B-6644-2418-215E-D440AB78A03F}"/>
              </a:ext>
            </a:extLst>
          </p:cNvPr>
          <p:cNvSpPr txBox="1">
            <a:spLocks/>
          </p:cNvSpPr>
          <p:nvPr/>
        </p:nvSpPr>
        <p:spPr>
          <a:xfrm>
            <a:off x="1828800" y="3028759"/>
            <a:ext cx="8512629" cy="2946399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5300" dirty="0">
                <a:latin typeface="Arial"/>
                <a:cs typeface="Arial"/>
              </a:rPr>
              <a:t>Introduction to programming workshop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Fall 2026</a:t>
            </a:r>
          </a:p>
          <a:p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Session 1 – October 7, 2026</a:t>
            </a:r>
          </a:p>
          <a:p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Aaron denDekker, PhD</a:t>
            </a:r>
          </a:p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Assistant Research Scientist | Bioinformatics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DD00D3-7EF6-BAE1-9579-A4269EA76D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38715358-9B07-297F-F4B3-4F40A22F7DE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02834992"/>
              </p:ext>
            </p:extLst>
          </p:nvPr>
        </p:nvGraphicFramePr>
        <p:xfrm>
          <a:off x="1135391" y="1074110"/>
          <a:ext cx="9485376" cy="48658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4424">
                  <a:extLst>
                    <a:ext uri="{9D8B030D-6E8A-4147-A177-3AD203B41FA5}">
                      <a16:colId xmlns:a16="http://schemas.microsoft.com/office/drawing/2014/main" val="1301103461"/>
                    </a:ext>
                  </a:extLst>
                </a:gridCol>
                <a:gridCol w="8200952">
                  <a:extLst>
                    <a:ext uri="{9D8B030D-6E8A-4147-A177-3AD203B41FA5}">
                      <a16:colId xmlns:a16="http://schemas.microsoft.com/office/drawing/2014/main" val="474046658"/>
                    </a:ext>
                  </a:extLst>
                </a:gridCol>
              </a:tblGrid>
              <a:tr h="486586"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372246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1:00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Workshop overview, goals, expectations, AI policy, setup check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513827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1:15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Programming language landscape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086958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1:30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RStudio tour, projects and file paths, calling functions, assigning objects, ?help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283855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2:00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1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Break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38739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2:10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types and structures: coercion, vectorization, recycling, indexing, NA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000260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3:00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1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Break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851044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3:10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Factors and reference levels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116235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3:25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Lists and data frames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404263"/>
                  </a:ext>
                </a:extLst>
              </a:tr>
              <a:tr h="486586"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3:50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Wrap-up, Take-home exercises 1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282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17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3002-6CB4-32FB-E00C-E2F348EC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21DB4B-7F88-4D52-88B8-BD7CF1659D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2349" y="1248617"/>
            <a:ext cx="10514121" cy="4817646"/>
          </a:xfrm>
        </p:spPr>
        <p:txBody>
          <a:bodyPr/>
          <a:lstStyle/>
          <a:p>
            <a:pPr marL="57150" indent="0">
              <a:buNone/>
            </a:pPr>
            <a:r>
              <a:rPr lang="en-US" sz="2400" b="1" dirty="0"/>
              <a:t>Who is this workshop for?</a:t>
            </a:r>
          </a:p>
          <a:p>
            <a:r>
              <a:rPr lang="en-US" sz="2000" dirty="0"/>
              <a:t>Anyone affiliated with the Rogel and Blondy Center for Pancreatic Cancer</a:t>
            </a:r>
          </a:p>
          <a:p>
            <a:r>
              <a:rPr lang="en-US" sz="2000" dirty="0"/>
              <a:t>Anyone who wants to learn how to analyze large datasets</a:t>
            </a:r>
          </a:p>
          <a:p>
            <a:r>
              <a:rPr lang="en-US" sz="2000" dirty="0"/>
              <a:t>Does not assume that you have any previous coding experience</a:t>
            </a:r>
          </a:p>
          <a:p>
            <a:endParaRPr lang="en-US" sz="2400" b="1" dirty="0"/>
          </a:p>
          <a:p>
            <a:pPr marL="57150" indent="0">
              <a:buNone/>
            </a:pPr>
            <a:r>
              <a:rPr lang="en-US" sz="2400" b="1" dirty="0"/>
              <a:t>What will be covering?</a:t>
            </a:r>
          </a:p>
          <a:p>
            <a:r>
              <a:rPr lang="en-US" sz="2000" dirty="0"/>
              <a:t>Fundamentals of coding</a:t>
            </a:r>
          </a:p>
          <a:p>
            <a:pPr lvl="1"/>
            <a:r>
              <a:rPr lang="en-US" sz="1800" dirty="0"/>
              <a:t>Data types</a:t>
            </a:r>
          </a:p>
          <a:p>
            <a:pPr lvl="1"/>
            <a:r>
              <a:rPr lang="en-US" sz="1800" dirty="0"/>
              <a:t>Data structures</a:t>
            </a:r>
          </a:p>
          <a:p>
            <a:pPr lvl="1"/>
            <a:r>
              <a:rPr lang="en-US" sz="1800" dirty="0"/>
              <a:t>Syntax</a:t>
            </a:r>
          </a:p>
          <a:p>
            <a:pPr lvl="1"/>
            <a:r>
              <a:rPr lang="en-US" sz="1800" dirty="0"/>
              <a:t>Loops</a:t>
            </a:r>
          </a:p>
          <a:p>
            <a:pPr lvl="1"/>
            <a:r>
              <a:rPr lang="en-US" sz="1800" dirty="0"/>
              <a:t>Functions</a:t>
            </a:r>
          </a:p>
          <a:p>
            <a:r>
              <a:rPr lang="en-US" sz="2000" dirty="0"/>
              <a:t>Focus on sequence data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D826193-C180-BD05-092E-7B56B33400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350" y="443019"/>
            <a:ext cx="9711459" cy="567443"/>
          </a:xfrm>
        </p:spPr>
        <p:txBody>
          <a:bodyPr/>
          <a:lstStyle/>
          <a:p>
            <a:r>
              <a:rPr lang="en-US" dirty="0"/>
              <a:t>Workshop Overview</a:t>
            </a:r>
          </a:p>
        </p:txBody>
      </p:sp>
    </p:spTree>
    <p:extLst>
      <p:ext uri="{BB962C8B-B14F-4D97-AF65-F5344CB8AC3E}">
        <p14:creationId xmlns:p14="http://schemas.microsoft.com/office/powerpoint/2010/main" val="237765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5C8E-8DCB-D4B2-8865-E5092DD2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8F1F7B-27A5-CBC3-1AC7-06E1C03488A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2349" y="1248617"/>
            <a:ext cx="10514121" cy="4817646"/>
          </a:xfrm>
        </p:spPr>
        <p:txBody>
          <a:bodyPr/>
          <a:lstStyle/>
          <a:p>
            <a:pPr marL="57150" indent="0">
              <a:buNone/>
            </a:pPr>
            <a:r>
              <a:rPr lang="en-US" sz="2400" b="1" dirty="0"/>
              <a:t>Structure</a:t>
            </a:r>
          </a:p>
          <a:p>
            <a:pPr indent="-285750">
              <a:tabLst>
                <a:tab pos="2676525" algn="l"/>
              </a:tabLst>
            </a:pPr>
            <a:r>
              <a:rPr lang="en-US" sz="2000" b="1" dirty="0"/>
              <a:t>Three weekly 3-hour sessions</a:t>
            </a:r>
          </a:p>
          <a:p>
            <a:pPr indent="-285750"/>
            <a:r>
              <a:rPr lang="en-US" sz="2000" b="1" dirty="0"/>
              <a:t>Mix of lecture slides and hands on exercises</a:t>
            </a:r>
          </a:p>
          <a:p>
            <a:pPr lvl="1"/>
            <a:r>
              <a:rPr lang="en-US" sz="1800" dirty="0"/>
              <a:t>We will be using the R language and RStudio IDE</a:t>
            </a:r>
          </a:p>
          <a:p>
            <a:pPr lvl="1"/>
            <a:r>
              <a:rPr lang="en-US" sz="1800" dirty="0"/>
              <a:t>We will work through R scripts together each session</a:t>
            </a:r>
          </a:p>
          <a:p>
            <a:pPr lvl="1"/>
            <a:r>
              <a:rPr lang="en-US" sz="1800" dirty="0"/>
              <a:t>Take-home exercises will be given at the end of each session</a:t>
            </a:r>
            <a:endParaRPr lang="en-US" sz="1800" b="1" dirty="0"/>
          </a:p>
          <a:p>
            <a:r>
              <a:rPr lang="en-US" sz="2000" b="1" dirty="0" err="1"/>
              <a:t>Github</a:t>
            </a:r>
            <a:r>
              <a:rPr lang="en-US" sz="2000" b="1" dirty="0"/>
              <a:t> repository</a:t>
            </a:r>
          </a:p>
          <a:p>
            <a:pPr lvl="1"/>
            <a:r>
              <a:rPr lang="en-US" sz="1800" dirty="0"/>
              <a:t>Slide deck </a:t>
            </a:r>
          </a:p>
          <a:p>
            <a:pPr lvl="1"/>
            <a:r>
              <a:rPr lang="en-US" sz="1800" dirty="0"/>
              <a:t>Session exercises</a:t>
            </a:r>
          </a:p>
          <a:p>
            <a:pPr lvl="1"/>
            <a:r>
              <a:rPr lang="en-US" sz="1800" dirty="0"/>
              <a:t>Data files</a:t>
            </a:r>
          </a:p>
          <a:p>
            <a:pPr lvl="1"/>
            <a:r>
              <a:rPr lang="en-US" sz="1800" dirty="0"/>
              <a:t>Take-home exercises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AB4DB7D-0E36-B4B6-0D6A-6D4499BC34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350" y="443019"/>
            <a:ext cx="9711459" cy="567443"/>
          </a:xfrm>
        </p:spPr>
        <p:txBody>
          <a:bodyPr/>
          <a:lstStyle/>
          <a:p>
            <a:r>
              <a:rPr lang="en-US" dirty="0"/>
              <a:t>Workshop Overview</a:t>
            </a:r>
          </a:p>
        </p:txBody>
      </p:sp>
    </p:spTree>
    <p:extLst>
      <p:ext uri="{BB962C8B-B14F-4D97-AF65-F5344CB8AC3E}">
        <p14:creationId xmlns:p14="http://schemas.microsoft.com/office/powerpoint/2010/main" val="34193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4AC5-6AE4-31A4-7F6F-09FF85EA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11CFBE-E2FE-8834-C431-4ED9480910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2349" y="1248617"/>
            <a:ext cx="10514121" cy="481764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Expectations</a:t>
            </a:r>
          </a:p>
          <a:p>
            <a:r>
              <a:rPr lang="en-US" sz="2400" dirty="0"/>
              <a:t>Try to understand the concepts in each exercise</a:t>
            </a:r>
          </a:p>
          <a:p>
            <a:r>
              <a:rPr lang="en-US" sz="2400" b="1" dirty="0"/>
              <a:t>Please ask questions</a:t>
            </a:r>
          </a:p>
          <a:p>
            <a:pPr lvl="1"/>
            <a:r>
              <a:rPr lang="en-US" sz="2400" dirty="0"/>
              <a:t>If you don’t understand something, there is a good chance you’re not the only one</a:t>
            </a:r>
            <a:endParaRPr lang="en-US" sz="2400" b="1" i="1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4FB2954-727F-991E-CCDE-76A6B36024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350" y="443019"/>
            <a:ext cx="9711459" cy="567443"/>
          </a:xfrm>
        </p:spPr>
        <p:txBody>
          <a:bodyPr/>
          <a:lstStyle/>
          <a:p>
            <a:r>
              <a:rPr lang="en-US" dirty="0"/>
              <a:t>Workshop Overview</a:t>
            </a:r>
          </a:p>
        </p:txBody>
      </p:sp>
    </p:spTree>
    <p:extLst>
      <p:ext uri="{BB962C8B-B14F-4D97-AF65-F5344CB8AC3E}">
        <p14:creationId xmlns:p14="http://schemas.microsoft.com/office/powerpoint/2010/main" val="339962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otball goal in the net">
            <a:extLst>
              <a:ext uri="{FF2B5EF4-FFF2-40B4-BE49-F238E27FC236}">
                <a16:creationId xmlns:a16="http://schemas.microsoft.com/office/drawing/2014/main" id="{0C468DF8-A405-C052-3BC8-1D7C57AA71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97" r="36507" b="9835"/>
          <a:stretch>
            <a:fillRect/>
          </a:stretch>
        </p:blipFill>
        <p:spPr>
          <a:xfrm>
            <a:off x="0" y="0"/>
            <a:ext cx="4150281" cy="618335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3E85B9-BBC6-4F40-E77B-46C27FEC5E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7200" y="192295"/>
            <a:ext cx="7800109" cy="31017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Goals of this workshop</a:t>
            </a:r>
          </a:p>
          <a:p>
            <a:pPr marL="0" indent="0">
              <a:buNone/>
            </a:pPr>
            <a:r>
              <a:rPr lang="en-US" sz="2200" b="1" dirty="0"/>
              <a:t>At the end of this workshop, you should be able to: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Understand the difference between data types (numeric, character, logical, factor) and data structures (vector, list, matrix, data frame)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Index vectors and data frames by position, condition, and name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Handle `NA` values in your data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Write small functions and simple loops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Read csv, </a:t>
            </a:r>
            <a:r>
              <a:rPr lang="en-US" sz="2000" dirty="0" err="1"/>
              <a:t>tsv</a:t>
            </a:r>
            <a:r>
              <a:rPr lang="en-US" sz="2000" dirty="0"/>
              <a:t>, and Excel files into 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Inspect and sanity-check a data set before analyzing it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Clean and recode messy data</a:t>
            </a:r>
          </a:p>
        </p:txBody>
      </p:sp>
    </p:spTree>
    <p:extLst>
      <p:ext uri="{BB962C8B-B14F-4D97-AF65-F5344CB8AC3E}">
        <p14:creationId xmlns:p14="http://schemas.microsoft.com/office/powerpoint/2010/main" val="103258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A62D6-7F55-0189-065D-24890391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7A976A-A9BB-9350-5148-3DD72967512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2349" y="1248617"/>
            <a:ext cx="10514121" cy="4817646"/>
          </a:xfrm>
        </p:spPr>
        <p:txBody>
          <a:bodyPr/>
          <a:lstStyle/>
          <a:p>
            <a:r>
              <a:rPr lang="en-US" b="1" dirty="0"/>
              <a:t>Use of AI tools is </a:t>
            </a:r>
            <a:r>
              <a:rPr lang="en-US" b="1" u="sng" dirty="0"/>
              <a:t>not prohibited</a:t>
            </a:r>
          </a:p>
          <a:p>
            <a:pPr lvl="1"/>
            <a:r>
              <a:rPr lang="en-US" sz="2200" dirty="0"/>
              <a:t>However, the focus is on learning the fundamentals of computer programming</a:t>
            </a:r>
          </a:p>
          <a:p>
            <a:r>
              <a:rPr lang="en-US" b="1" dirty="0"/>
              <a:t>Good uses</a:t>
            </a:r>
          </a:p>
          <a:p>
            <a:pPr lvl="1"/>
            <a:r>
              <a:rPr lang="en-US" sz="2200" dirty="0"/>
              <a:t>Asking what a line of code, a function, or an error message means</a:t>
            </a:r>
          </a:p>
          <a:p>
            <a:pPr lvl="1"/>
            <a:r>
              <a:rPr lang="en-US" sz="2200" dirty="0"/>
              <a:t>Asking for a concept to be explained in a different way</a:t>
            </a:r>
          </a:p>
          <a:p>
            <a:pPr lvl="1"/>
            <a:r>
              <a:rPr lang="en-US" sz="2200" dirty="0"/>
              <a:t>Asking why your code isn't working, </a:t>
            </a:r>
            <a:r>
              <a:rPr lang="en-US" sz="2200" b="1" dirty="0"/>
              <a:t>after</a:t>
            </a:r>
            <a:r>
              <a:rPr lang="en-US" sz="2200" dirty="0"/>
              <a:t> you have tried to figure it out yourself</a:t>
            </a:r>
          </a:p>
          <a:p>
            <a:r>
              <a:rPr lang="en-US" b="1" dirty="0"/>
              <a:t>Counter-productive uses</a:t>
            </a:r>
          </a:p>
          <a:p>
            <a:pPr lvl="1"/>
            <a:r>
              <a:rPr lang="en-US" sz="2200" dirty="0"/>
              <a:t>Pasting in an exercise and running the code it gives back</a:t>
            </a:r>
          </a:p>
          <a:p>
            <a:pPr lvl="1"/>
            <a:r>
              <a:rPr lang="en-US" sz="2200" dirty="0"/>
              <a:t>Having AI generate boilerplate code for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48BA35-1A32-B400-49D5-85DCB66C9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350" y="443019"/>
            <a:ext cx="9711459" cy="567443"/>
          </a:xfrm>
        </p:spPr>
        <p:txBody>
          <a:bodyPr/>
          <a:lstStyle/>
          <a:p>
            <a:r>
              <a:rPr lang="en-US" dirty="0"/>
              <a:t>Policy on the use of AI</a:t>
            </a:r>
          </a:p>
        </p:txBody>
      </p:sp>
    </p:spTree>
    <p:extLst>
      <p:ext uri="{BB962C8B-B14F-4D97-AF65-F5344CB8AC3E}">
        <p14:creationId xmlns:p14="http://schemas.microsoft.com/office/powerpoint/2010/main" val="39569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34C5-C43F-803E-8A68-0E6C587B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B9348F-FB2D-3F57-2204-4515B42AEB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2349" y="1248617"/>
            <a:ext cx="10514121" cy="4817646"/>
          </a:xfrm>
        </p:spPr>
        <p:txBody>
          <a:bodyPr/>
          <a:lstStyle/>
          <a:p>
            <a:r>
              <a:rPr lang="en-US" b="1" dirty="0"/>
              <a:t>Check everything</a:t>
            </a:r>
          </a:p>
          <a:p>
            <a:pPr lvl="1"/>
            <a:r>
              <a:rPr lang="en-US" sz="2200" dirty="0"/>
              <a:t>AI still makes mistakes</a:t>
            </a:r>
          </a:p>
          <a:p>
            <a:pPr lvl="1"/>
            <a:r>
              <a:rPr lang="en-US" sz="2200" dirty="0"/>
              <a:t>Test and validate anything you get from it </a:t>
            </a:r>
          </a:p>
          <a:p>
            <a:pPr lvl="1"/>
            <a:r>
              <a:rPr lang="en-US" sz="2200" dirty="0"/>
              <a:t>Make sure you understand it </a:t>
            </a:r>
            <a:r>
              <a:rPr lang="en-US" sz="2200" b="1" dirty="0"/>
              <a:t>before you use it</a:t>
            </a:r>
          </a:p>
          <a:p>
            <a:r>
              <a:rPr lang="en-US" b="1" dirty="0"/>
              <a:t>Protect your data</a:t>
            </a:r>
          </a:p>
          <a:p>
            <a:pPr lvl="1"/>
            <a:r>
              <a:rPr lang="en-US" sz="2200" dirty="0"/>
              <a:t>Do not paste patient data or unpublished data into AI tools. </a:t>
            </a:r>
          </a:p>
          <a:p>
            <a:pPr lvl="1"/>
            <a:r>
              <a:rPr lang="en-US" sz="2200" dirty="0"/>
              <a:t>The example data used in this workshop is synthetic and is fine to use.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372436F-76B1-1790-E358-85A9743E8E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350" y="443019"/>
            <a:ext cx="9711459" cy="567443"/>
          </a:xfrm>
        </p:spPr>
        <p:txBody>
          <a:bodyPr/>
          <a:lstStyle/>
          <a:p>
            <a:r>
              <a:rPr lang="en-US" dirty="0"/>
              <a:t>Policy on the use of AI</a:t>
            </a:r>
          </a:p>
        </p:txBody>
      </p:sp>
    </p:spTree>
    <p:extLst>
      <p:ext uri="{BB962C8B-B14F-4D97-AF65-F5344CB8AC3E}">
        <p14:creationId xmlns:p14="http://schemas.microsoft.com/office/powerpoint/2010/main" val="115554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6643BC-3E6E-E8B8-4698-14101418C549}"/>
              </a:ext>
            </a:extLst>
          </p:cNvPr>
          <p:cNvSpPr txBox="1">
            <a:spLocks/>
          </p:cNvSpPr>
          <p:nvPr/>
        </p:nvSpPr>
        <p:spPr>
          <a:xfrm>
            <a:off x="1022350" y="2670049"/>
            <a:ext cx="9711458" cy="758952"/>
          </a:xfr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rgbClr val="000000"/>
                </a:solidFill>
              </a:rPr>
              <a:t>Programming language landscape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2620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2759-5AA4-5324-8B74-EF790F9F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9359-FE56-C4F4-BFAF-92194359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programming language?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02669C-EC03-FC8B-28FE-FE116ABDF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7" y="1253331"/>
            <a:ext cx="10914335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programming language is a way to give a computer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precise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instructions to do something.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Very literal.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 lot of different programming languages that are used for different applications</a:t>
            </a: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576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4351-F662-0CD1-A147-F0DABFFD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6"/>
            <a:ext cx="10741152" cy="715716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programming languages: 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Compiled vs. Interpreted</a:t>
            </a:r>
            <a:endParaRPr lang="en-US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EF14A4-08AC-5F48-CBE4-4F57BFF3C6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80810953"/>
              </p:ext>
            </p:extLst>
          </p:nvPr>
        </p:nvGraphicFramePr>
        <p:xfrm>
          <a:off x="612648" y="1160611"/>
          <a:ext cx="10928188" cy="3947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9497">
                  <a:extLst>
                    <a:ext uri="{9D8B030D-6E8A-4147-A177-3AD203B41FA5}">
                      <a16:colId xmlns:a16="http://schemas.microsoft.com/office/drawing/2014/main" val="561776930"/>
                    </a:ext>
                  </a:extLst>
                </a:gridCol>
                <a:gridCol w="5458691">
                  <a:extLst>
                    <a:ext uri="{9D8B030D-6E8A-4147-A177-3AD203B41FA5}">
                      <a16:colId xmlns:a16="http://schemas.microsoft.com/office/drawing/2014/main" val="2060946335"/>
                    </a:ext>
                  </a:extLst>
                </a:gridCol>
              </a:tblGrid>
              <a:tr h="2886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77052"/>
                  </a:ext>
                </a:extLst>
              </a:tr>
              <a:tr h="2897939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code translates entirely into native machine code </a:t>
                      </a:r>
                      <a:r>
                        <a:rPr lang="en-US" sz="2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before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execution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code must be </a:t>
                      </a:r>
                      <a:r>
                        <a:rPr lang="en-US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compiled 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before it can be run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Pros: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performance, executes very fast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Cons: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recompiling every time code changes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portable - requires each platform to have language specific compiler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Interpreter executes code line-by-line at runtime</a:t>
                      </a:r>
                      <a:endParaRPr 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556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 can write code and run it immediately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2700" lv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Tx/>
                        <a:buNone/>
                        <a:tabLst/>
                      </a:pP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Pros: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Instant testing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Very portable - as long as you have the language installed the code will r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lv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Cons: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Slower execution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38361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Examples: 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C, C++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Examples: </a:t>
                      </a:r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Bash, Java, Python, </a:t>
                      </a:r>
                      <a:r>
                        <a:rPr lang="en-US" sz="20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0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848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73F8-4049-7A19-5959-D6FC1EF0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0CB3-8324-00A2-70AF-59902DF2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6"/>
            <a:ext cx="10741152" cy="715716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programming languages: 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Static- vs. Dynamically-typed</a:t>
            </a:r>
            <a:endParaRPr lang="en-US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0A5E395-FA6B-1B1C-AE50-5B3C9EDC855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31402133"/>
              </p:ext>
            </p:extLst>
          </p:nvPr>
        </p:nvGraphicFramePr>
        <p:xfrm>
          <a:off x="387926" y="1160611"/>
          <a:ext cx="11236038" cy="4542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8019">
                  <a:extLst>
                    <a:ext uri="{9D8B030D-6E8A-4147-A177-3AD203B41FA5}">
                      <a16:colId xmlns:a16="http://schemas.microsoft.com/office/drawing/2014/main" val="561776930"/>
                    </a:ext>
                  </a:extLst>
                </a:gridCol>
                <a:gridCol w="5618019">
                  <a:extLst>
                    <a:ext uri="{9D8B030D-6E8A-4147-A177-3AD203B41FA5}">
                      <a16:colId xmlns:a16="http://schemas.microsoft.com/office/drawing/2014/main" val="2060946335"/>
                    </a:ext>
                  </a:extLst>
                </a:gridCol>
              </a:tblGrid>
              <a:tr h="2886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Statically-typed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Dynamically-typed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77052"/>
                  </a:ext>
                </a:extLst>
              </a:tr>
              <a:tr h="3286266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type must be declared and verified at compile-time*.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 you make a new variable, you must define its type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Catches critical bugs before execution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Cons: 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Extra step of defining each variable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type is checked on-the-fly during runtime. </a:t>
                      </a:r>
                      <a:endParaRPr lang="en-US" sz="2000" b="1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interpreter attempts to define your variables own its own. You just code.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 prototyping 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Fewer lines of code</a:t>
                      </a:r>
                    </a:p>
                    <a:p>
                      <a:pPr marL="0" lv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Cons: 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Harder to debug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38361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Java, Rust, TypeScript.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Python, JavaScript, PHP,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2000" b="0" u="none" strike="noStrike" kern="1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0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38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27B83-EAE7-30FF-4023-9A1981F5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C334FC8-EBE5-542B-577C-3FA79B845C3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99006261"/>
              </p:ext>
            </p:extLst>
          </p:nvPr>
        </p:nvGraphicFramePr>
        <p:xfrm>
          <a:off x="387926" y="1105191"/>
          <a:ext cx="11236038" cy="3926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8019">
                  <a:extLst>
                    <a:ext uri="{9D8B030D-6E8A-4147-A177-3AD203B41FA5}">
                      <a16:colId xmlns:a16="http://schemas.microsoft.com/office/drawing/2014/main" val="561776930"/>
                    </a:ext>
                  </a:extLst>
                </a:gridCol>
                <a:gridCol w="5618019">
                  <a:extLst>
                    <a:ext uri="{9D8B030D-6E8A-4147-A177-3AD203B41FA5}">
                      <a16:colId xmlns:a16="http://schemas.microsoft.com/office/drawing/2014/main" val="2060946335"/>
                    </a:ext>
                  </a:extLst>
                </a:gridCol>
              </a:tblGrid>
              <a:tr h="2886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General-Purpose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Domain-Specific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77052"/>
                  </a:ext>
                </a:extLst>
              </a:tr>
              <a:tr h="3056713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Engineered to develop any type of software for any use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endParaRPr 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cases: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Web applications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Mobile apps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Desktop software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Infrastructure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Designed for a single problem or application</a:t>
                      </a:r>
                      <a:endParaRPr lang="en-US" sz="2000" b="1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endParaRPr 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cases: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Database management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Scientific computing</a:t>
                      </a:r>
                    </a:p>
                    <a:p>
                      <a:pPr marL="34290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  Processing &amp; Pattern Matching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38361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Python, Java, C++,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R*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SQL, MATLAB, HTML, awk</a:t>
                      </a:r>
                      <a:endParaRPr lang="en-US" sz="2000" b="0" u="none" strike="noStrike" kern="1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0244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C1586C1-1513-4670-B116-ECF933BC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6"/>
            <a:ext cx="10741152" cy="715716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programming languages: 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General-purpose vs. Domain-specific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A4105-1E4D-EC0D-8BAB-DF55ECF47626}"/>
              </a:ext>
            </a:extLst>
          </p:cNvPr>
          <p:cNvSpPr txBox="1"/>
          <p:nvPr/>
        </p:nvSpPr>
        <p:spPr>
          <a:xfrm>
            <a:off x="590342" y="5194204"/>
            <a:ext cx="110113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technically a general-purpose language but was designed for statistics and data analysis and is almost never used as a general-purpose language.</a:t>
            </a:r>
          </a:p>
        </p:txBody>
      </p:sp>
    </p:spTree>
    <p:extLst>
      <p:ext uri="{BB962C8B-B14F-4D97-AF65-F5344CB8AC3E}">
        <p14:creationId xmlns:p14="http://schemas.microsoft.com/office/powerpoint/2010/main" val="987246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1EE9-A876-FDEA-6A22-68027EF9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2F26-2E77-6D45-742C-673B96C2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6"/>
            <a:ext cx="10741152" cy="715716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programming languages: 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Object-oriented vs. Functional</a:t>
            </a:r>
            <a:endParaRPr lang="en-US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758485D-1995-8973-FE53-D818AE97CC6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4195329"/>
              </p:ext>
            </p:extLst>
          </p:nvPr>
        </p:nvGraphicFramePr>
        <p:xfrm>
          <a:off x="612648" y="1160611"/>
          <a:ext cx="10928188" cy="362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4094">
                  <a:extLst>
                    <a:ext uri="{9D8B030D-6E8A-4147-A177-3AD203B41FA5}">
                      <a16:colId xmlns:a16="http://schemas.microsoft.com/office/drawing/2014/main" val="561776930"/>
                    </a:ext>
                  </a:extLst>
                </a:gridCol>
                <a:gridCol w="5464094">
                  <a:extLst>
                    <a:ext uri="{9D8B030D-6E8A-4147-A177-3AD203B41FA5}">
                      <a16:colId xmlns:a16="http://schemas.microsoft.com/office/drawing/2014/main" val="2060946335"/>
                    </a:ext>
                  </a:extLst>
                </a:gridCol>
              </a:tblGrid>
              <a:tr h="2886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Object-oriented Programming (OOP)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 Programming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77052"/>
                  </a:ext>
                </a:extLst>
              </a:tr>
              <a:tr h="2613367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primary unit is the object (data)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 Concepts: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data and its behavior (actions) are combined.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b="0" u="sng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200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bjects are </a:t>
                      </a:r>
                      <a:r>
                        <a:rPr lang="en-US" sz="2000" i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mutable, i.e., </a:t>
                      </a:r>
                      <a:r>
                        <a:rPr lang="en-US" sz="200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</a:t>
                      </a:r>
                      <a:r>
                        <a:rPr lang="en-US" sz="2000" i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modify their own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primary unit is the function</a:t>
                      </a:r>
                      <a:r>
                        <a:rPr lang="en-US" sz="20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i.e.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the action to be made on the data</a:t>
                      </a:r>
                      <a:endParaRPr lang="en-US" sz="2000" b="1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Concepts: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Objects (data) and functions (methods, actions) are kept strictly separate</a:t>
                      </a:r>
                    </a:p>
                    <a:p>
                      <a:pPr marL="34290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  <a:tabLst/>
                      </a:pPr>
                      <a:r>
                        <a:rPr lang="en-US" sz="20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Objects are </a:t>
                      </a:r>
                      <a:r>
                        <a:rPr lang="en-US" sz="2000" b="0" i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immutable, i.e.,</a:t>
                      </a:r>
                      <a:r>
                        <a:rPr lang="en-US" sz="20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they cannot be changed once created</a:t>
                      </a:r>
                      <a:r>
                        <a:rPr lang="en-US" sz="2000" b="0" i="1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changes require the creation of a new object</a:t>
                      </a:r>
                      <a:endParaRPr lang="en-US" sz="20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38361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Java, C++, C#, Python, Ruby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Haskell, Elixir,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024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65F0C1-27C7-52F4-2470-41E55CC47525}"/>
              </a:ext>
            </a:extLst>
          </p:cNvPr>
          <p:cNvSpPr txBox="1"/>
          <p:nvPr/>
        </p:nvSpPr>
        <p:spPr>
          <a:xfrm>
            <a:off x="612648" y="4897170"/>
            <a:ext cx="10928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also hybrid languages that support both OOP and functional programming paradigms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805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BA8BD-B97C-16FB-572A-DB601902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2098E-204F-DF28-F9CF-3CE7B756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 language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DDD5CB-1A07-C40E-08AF-FFA5A8885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959556"/>
            <a:ext cx="10858916" cy="1748852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Interpreted language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Primarily a functional language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Actually multi-paradigm – supports both functional programming &amp; OOP architecture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General-purpose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Originally designed for statistics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Almost never used as a general-purpose language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3EFDE9-56AD-455C-E86A-3105BC80E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98719"/>
              </p:ext>
            </p:extLst>
          </p:nvPr>
        </p:nvGraphicFramePr>
        <p:xfrm>
          <a:off x="612648" y="3565613"/>
          <a:ext cx="10858916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458">
                  <a:extLst>
                    <a:ext uri="{9D8B030D-6E8A-4147-A177-3AD203B41FA5}">
                      <a16:colId xmlns:a16="http://schemas.microsoft.com/office/drawing/2014/main" val="1166955158"/>
                    </a:ext>
                  </a:extLst>
                </a:gridCol>
                <a:gridCol w="5429458">
                  <a:extLst>
                    <a:ext uri="{9D8B030D-6E8A-4147-A177-3AD203B41FA5}">
                      <a16:colId xmlns:a16="http://schemas.microsoft.com/office/drawing/2014/main" val="3369218905"/>
                    </a:ext>
                  </a:extLst>
                </a:gridCol>
              </a:tblGrid>
              <a:tr h="44476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4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4C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845696"/>
                  </a:ext>
                </a:extLst>
              </a:tr>
              <a:tr h="6075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 to type and run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Ideal for data analysis</a:t>
                      </a:r>
                    </a:p>
                    <a:p>
                      <a:pPr marL="573088" indent="-2730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Lots of packages available for bioinformatics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Highly portable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optimized execution time than compiled language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memory consumption</a:t>
                      </a:r>
                    </a:p>
                    <a:p>
                      <a:pPr marL="573088" indent="-2730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 data not mutable</a:t>
                      </a:r>
                    </a:p>
                    <a:p>
                      <a:pPr marL="573088" indent="-2730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Changes to data in an object require writing a brand new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1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961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ED94-57AB-B159-33E6-7F54CE4F9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682FF4-3746-D3AF-9850-021CC96003C1}"/>
              </a:ext>
            </a:extLst>
          </p:cNvPr>
          <p:cNvSpPr txBox="1">
            <a:spLocks/>
          </p:cNvSpPr>
          <p:nvPr/>
        </p:nvSpPr>
        <p:spPr>
          <a:xfrm>
            <a:off x="1022350" y="2670049"/>
            <a:ext cx="9711458" cy="758952"/>
          </a:xfr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MS PGothic" charset="-128"/>
                <a:cs typeface="+mn-cs"/>
              </a:defRPr>
            </a:lvl9pPr>
          </a:lstStyle>
          <a:p>
            <a:pPr algn="ctr"/>
            <a:r>
              <a:rPr lang="en-US" sz="4000" b="1">
                <a:solidFill>
                  <a:srgbClr val="000000"/>
                </a:solidFill>
              </a:rPr>
              <a:t>Introduction to R and RStudio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97641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A92D-4383-4492-F776-4D89AB78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R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962D1-0DDD-E55A-8DA4-9F9E8C4AC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121020"/>
            <a:ext cx="10175095" cy="435133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data container, i.e., a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a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is imported into R and saved into a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named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container.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Function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A set of processing steps.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Argument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Something that is required for the function to do it’s thing (your data object, a parameter, etc.)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Concatenation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The process of joining data sequentially.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Coerce/Coercion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Converting data from one type to a different type or a data structure to a different data structure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220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26CB-D365-919B-87F5-0877D2F9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2442D-C9E2-C806-88E5-A14E8BD6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00446"/>
            <a:ext cx="10741152" cy="113225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4CAD6-DCD9-FAEE-D1E3-0FE56389D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253331"/>
            <a:ext cx="10175095" cy="4351338"/>
          </a:xfrm>
        </p:spPr>
        <p:txBody>
          <a:bodyPr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Numeric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numerical data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 with or without decimal (32.5, 40, etc.)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May also be referred to as a “double” or a “floating point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whole number (20L)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 declares that it’s an integer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text data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Commonly referred to as a “string”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Numbers can be converted to characters (“32.5”, “40”)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Logical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TRUE or FALSE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Also referred to as Boolean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Complex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contains imaginary numbers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08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67DB-2C17-9B00-3CB4-5D8BE812C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1C04-C0C2-2FF4-91F7-80B18B184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00446"/>
            <a:ext cx="10741152" cy="113225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1EA1A-49C5-C73C-CBD9-E5E17146A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253331"/>
            <a:ext cx="10175095" cy="4351338"/>
          </a:xfrm>
        </p:spPr>
        <p:txBody>
          <a:bodyPr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Vector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A list of items of the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same data type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A list of items of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different data types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Matrix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2D data of the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same data type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Array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A matrix-like structure but can have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more than 2 dimensions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Tabular data like a spreadsheet.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Can have different types of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782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EF8C-68FA-AB03-4472-B4E7F3FE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AEE5-B35D-DDBE-0FF8-25ED2D1CA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253331"/>
            <a:ext cx="11126634" cy="4351338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&lt;- assigns, == compares (= assigns in some places).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indexes from 1, not 0.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 is contagious: most calculations that touch an NA return NA unless you say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na.rm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TRUE.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vector holds ONE data type. Mixing types silently converts everything (usually to text).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Factor levels default to alphabetical order, which may not be the reference you want.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 ] subsets the original object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[[ ]] and $ pull out the elements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of the subset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47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12504</TotalTime>
  <Words>1401</Words>
  <Application>Microsoft Macintosh PowerPoint</Application>
  <PresentationFormat>Widescreen</PresentationFormat>
  <Paragraphs>224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IBM Plex Serif Medium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a programming language?</vt:lpstr>
      <vt:lpstr>Types of programming languages:  Compiled vs. Interpreted</vt:lpstr>
      <vt:lpstr>Types of programming languages:  Static- vs. Dynamically-typed</vt:lpstr>
      <vt:lpstr>Types of programming languages:  General-purpose vs. Domain-specific</vt:lpstr>
      <vt:lpstr>Types of programming languages:  Object-oriented vs. Functional</vt:lpstr>
      <vt:lpstr>The R language</vt:lpstr>
      <vt:lpstr>PowerPoint Presentation</vt:lpstr>
      <vt:lpstr>Basic R Terminology</vt:lpstr>
      <vt:lpstr>Data types</vt:lpstr>
      <vt:lpstr>Data structures</vt:lpstr>
      <vt:lpstr>Wrap up</vt:lpstr>
    </vt:vector>
  </TitlesOfParts>
  <Company>Michigan Marketing &amp;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Martin Soave</dc:creator>
  <cp:lastModifiedBy>Aaron denDekker</cp:lastModifiedBy>
  <cp:revision>54</cp:revision>
  <cp:lastPrinted>2026-10-05T16:31:16Z</cp:lastPrinted>
  <dcterms:created xsi:type="dcterms:W3CDTF">2013-12-02T22:28:48Z</dcterms:created>
  <dcterms:modified xsi:type="dcterms:W3CDTF">2026-10-07T16:37:35Z</dcterms:modified>
</cp:coreProperties>
</file>